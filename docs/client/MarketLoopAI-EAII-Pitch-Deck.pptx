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84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974B9-46AF-4637-9C5A-23693572740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03D1E-146E-4C38-9263-07F616A4B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2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on the cover two seconds. Say the name: MarketLoopAI. Then the line: one idea in — create, publish, measure, improve. Introduce yourselves: Fasiledes Shimelis, Founder and CEO, and Hlina Sisay, Co-founder. Then: we are applying to EAII to take this from a live waitlist product to paid video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CREATE then OPERATE. Generation is only half the product. We publish to LinkedIn, TikTok, Snapchat, X, Facebook, Instagram. We run campaigns on TikTok Ads, Snapchat Ads, X Ads, Google Ads, and Meta Ads. Then we pull performance into one view and suggest the next creative from what won. That closed loop is the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Cite Fortune: $847M in 2026 to $3.35B by 2034. We are not claiming the whole market. Beachhead: SMBs and agencies who already buy tools but cannot ship video weekly. Why now: open-weight video models plus short video as the ad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 traction: live branded product, waitlist plus referral, complete video architecture — not fake ARR. Pro at $79 is the hero plan. Agency is expansion. Credits protect GPU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in four beats: waitlist, design partners, PLG, agencies. Pro and Agency unlock campaign management. Competition: Jasper owns copy, Runway owns experimental video, schedulers own calendars. Nobody owns create, publish, analyze, and suggest-from-winners in one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Fasiledes Shimelis, Founder and CEO — product and engine. Then Hlina Sisay, Co-founder — GTM and customers. Both commit three-plus days a week. Advisors and first hires come through the program. Do not oversell a board you do not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Close: ~180 paying accounts in 2027 at about $55 blended ARPU is about $120k ARR. 2028 is agency scale. The ask is the program plus GPU compute. Both founders, three days a week, four to six months. Last line: MarketLoopAI turns one idea into ranked content, published campaigns, and the next ad based on what actually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etloopa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05156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154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40606"/>
                </a:solidFill>
                <a:latin typeface="Calibri"/>
              </a:rPr>
              <a:t>MARKETLOOPAI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698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One idea in.
Create, publish, measure, improve.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C9CC"/>
                </a:solidFill>
                <a:latin typeface="Calibri"/>
              </a:rPr>
              <a:t>Content, video, campaigns, and performance — one loop across every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530352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5394960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Fasiledes Shimelis   ·   Founder &amp; CEO          Hlina Sisay   ·   Co-founder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5687568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73"/>
                </a:solidFill>
                <a:latin typeface="Calibri"/>
              </a:rPr>
              <a:t>EAII AI Startup Support Program   ·   Second-round pitch   ·  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40606"/>
                </a:solidFill>
                <a:latin typeface="Calibri"/>
              </a:rPr>
              <a:t>marketloopai.com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2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0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40606"/>
                </a:solidFill>
                <a:latin typeface="Calibri"/>
              </a:rPr>
              <a:t>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728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2936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ASK</a:t>
            </a:r>
          </a:p>
        </p:txBody>
      </p:sp>
      <p:pic>
        <p:nvPicPr>
          <p:cNvPr id="16" name="Picture 15" descr="marketloopa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6565392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MarketLoopAI  ·  Confidential  ·  EAII Second-Round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2  / 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0606"/>
                </a:solidFill>
                <a:latin typeface="Calibri"/>
              </a:rPr>
              <a:t>PROBLEM  → 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Marketers do not need another chatbot. They need create → publish → learn.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078992"/>
            <a:ext cx="3657600" cy="1261872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1078992"/>
            <a:ext cx="64008" cy="1261872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115214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Fragmented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426464"/>
            <a:ext cx="32918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Writer, editor, scheduler, five ad managers. The first draft still ships.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1078992"/>
            <a:ext cx="3657600" cy="1261872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1078992"/>
            <a:ext cx="64008" cy="1261872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115214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Blind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1426464"/>
            <a:ext cx="32918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Campaigns go live. Performance sits in five dashboards. Nobody feeds winners back into the next 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078992"/>
            <a:ext cx="3657600" cy="1261872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1078992"/>
            <a:ext cx="64008" cy="1261872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8" y="115214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Video is stuck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1426464"/>
            <a:ext cx="32918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The ad unit of 2026 still costs thousands and weeks. Most SMBs skip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450592"/>
            <a:ext cx="11247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606"/>
                </a:solidFill>
                <a:latin typeface="Calibri"/>
              </a:rPr>
              <a:t>CREATE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688336"/>
            <a:ext cx="2176272" cy="1115568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2761488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3035808"/>
            <a:ext cx="20299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Prompt or product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2999232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61488" y="2688336"/>
            <a:ext cx="2176272" cy="1115568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34640" y="2761488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035808"/>
            <a:ext cx="20299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Up to 9 versions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1456" y="2999232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65776" y="2688336"/>
            <a:ext cx="2176272" cy="1115568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38928" y="2761488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3035808"/>
            <a:ext cx="20299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Humanize + score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5744" y="2999232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70064" y="2688336"/>
            <a:ext cx="2176272" cy="1115568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43216" y="2761488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Adapt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43216" y="3035808"/>
            <a:ext cx="20299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Each platform’s voice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032" y="2999232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74352" y="2688336"/>
            <a:ext cx="2176272" cy="1115568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747504" y="2761488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Video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7504" y="3035808"/>
            <a:ext cx="20299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Clip or storyboard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913632"/>
            <a:ext cx="11247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606"/>
                </a:solidFill>
                <a:latin typeface="Calibri"/>
              </a:rPr>
              <a:t>OPERATE  ·  THE DATA COMES BACK 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151376"/>
            <a:ext cx="2743200" cy="1078992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6928" y="4224528"/>
            <a:ext cx="25237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4498848"/>
            <a:ext cx="2523744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LinkedIn, TikTok, Snapchat, X, Facebook, Instagram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3240" y="4462272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37560" y="4151376"/>
            <a:ext cx="2743200" cy="1078992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47288" y="4224528"/>
            <a:ext cx="25237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Run ads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4498848"/>
            <a:ext cx="2523744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TikTok, Snapchat, X, Google, Meta Ads — one workspace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4462272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4151376"/>
            <a:ext cx="2743200" cy="1078992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27648" y="4224528"/>
            <a:ext cx="25237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Analyze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7648" y="4498848"/>
            <a:ext cx="2523744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Unified performance across content and campaigns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23960" y="4462272"/>
            <a:ext cx="292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98280" y="4151376"/>
            <a:ext cx="2743200" cy="1078992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08008" y="4224528"/>
            <a:ext cx="25237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Suggest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08008" y="4498848"/>
            <a:ext cx="2523744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9CC"/>
                </a:solidFill>
                <a:latin typeface="Calibri"/>
              </a:rPr>
              <a:t>Next creative from what actually won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376672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" y="55046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C9CC"/>
                </a:solidFill>
                <a:latin typeface="Calibri"/>
              </a:rPr>
              <a:t>That is the brand: content flows out to every channel. Performance flows back in. Winners become the next brief — not another blank prompt.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2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0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728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40606"/>
                </a:solidFill>
                <a:latin typeface="Calibri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2936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ASK</a:t>
            </a:r>
          </a:p>
        </p:txBody>
      </p:sp>
      <p:pic>
        <p:nvPicPr>
          <p:cNvPr id="16" name="Picture 15" descr="marketloopa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6565392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MarketLoopAI  ·  Confidential  ·  EAII Second-Round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3  / 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0606"/>
                </a:solidFill>
                <a:latin typeface="Calibri"/>
              </a:rPr>
              <a:t>MARKET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Short-form video is the ad. SMBs still cannot produce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23444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135331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D40606"/>
                </a:solidFill>
                <a:latin typeface="Calibri"/>
              </a:rPr>
              <a:t>$847M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9202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AI video generator market,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23444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135331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D40606"/>
                </a:solidFill>
                <a:latin typeface="Calibri"/>
              </a:rPr>
              <a:t>$3.35B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19202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Projected by 2034  ·  18.8% CAGR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23444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135331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D40606"/>
                </a:solidFill>
                <a:latin typeface="Calibri"/>
              </a:rPr>
              <a:t>46%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9202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Text-to-video share of that 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7889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Calibri"/>
              </a:rPr>
              <a:t>Source: Fortune Business Insights, AI Video Generator Market (2026–2034).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54680"/>
            <a:ext cx="5760720" cy="64008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3009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40606"/>
                </a:solidFill>
                <a:latin typeface="Calibri"/>
              </a:rPr>
              <a:t>TAM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26440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AI video generation + AI marketing tools businesses already buy as SaaS.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867912"/>
            <a:ext cx="5760720" cy="64008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014216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40606"/>
                </a:solidFill>
                <a:latin typeface="Calibri"/>
              </a:rPr>
              <a:t>SAM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39776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SMBs, e-commerce, SaaS, agencies who need posts, short video ads, and campaign ops in one place.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81144"/>
            <a:ext cx="5760720" cy="64008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7274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40606"/>
                </a:solidFill>
                <a:latin typeface="Calibri"/>
              </a:rPr>
              <a:t>SOM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69087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Waitlist → paid beta in 12 months. Founder-led, then agencies as the multiplier.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3154680"/>
            <a:ext cx="5212080" cy="28803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3291840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7033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▸  Wan 2.2 (Apache 2.0) made commercial self-hosting possible without per-clip lock-in.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▸  Algorithms reward native video. Static posts lose reach.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▸  SMBs already pay $29–$199/mo for point tools. They will pay for a loop that ships and learns.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▸  Agencies need one workspace to publish, run ads, and see what won — not six logins.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2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0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728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2936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40606"/>
                </a:solidFill>
                <a:latin typeface="Calibri"/>
              </a:rPr>
              <a:t>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ASK</a:t>
            </a:r>
          </a:p>
        </p:txBody>
      </p:sp>
      <p:pic>
        <p:nvPicPr>
          <p:cNvPr id="16" name="Picture 15" descr="marketloopa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6565392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MarketLoopAI  ·  Confidential  ·  EAII Second-Round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4  / 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0606"/>
                </a:solidFill>
                <a:latin typeface="Calibri"/>
              </a:rPr>
              <a:t>TRACTION  ·  BUSINESS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Pre-revenue. Product surface is live. Engine is specified.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170432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1261872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40606"/>
                </a:solidFill>
                <a:latin typeface="Calibri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1664208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Founded. Building in public.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1170432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02152" y="1261872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40606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664208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marketloopai.com — waitlist, CMS, legal, security.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170432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1261872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40606"/>
                </a:solidFill>
                <a:latin typeface="Calibri"/>
              </a:rPr>
              <a:t>6 + 5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1664208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Publish on 6 socials. Run ads on 5 networks.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170432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62872" y="1261872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40606"/>
                </a:solidFill>
                <a:latin typeface="Calibri"/>
              </a:rPr>
              <a:t>The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1664208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Create → publish → analyze → suggest the next winner.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606040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SaaS plans (published)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2944368"/>
          <a:ext cx="67665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2194560"/>
              </a:tblGrid>
              <a:tr h="6126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Price / mo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videos*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Who it is for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Try the loop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$29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Solo creators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Pro  ·  featured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$79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Teams + campaigns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Agency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$199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Clients + analytics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7452360" y="2606040"/>
            <a:ext cx="4297680" cy="3401568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0" y="2743200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How we make money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108960"/>
            <a:ext cx="3886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▸  Subscriptions first. Credits under the hood so video can cost more than a caption.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▸  Failed GPU jobs refund credits.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▸  Later: agency seats, extra credit packs, premium video tiers.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▸  Pro / Agency: campaign management, analytics, winner-based suggestions.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▸  No paid ads until GPU-seconds prove contribution margin.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▸  *Site video counts map to credits as models get costlier.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2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0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728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2936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40606"/>
                </a:solidFill>
                <a:latin typeface="Calibri"/>
              </a:rPr>
              <a:t>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ASK</a:t>
            </a:r>
          </a:p>
        </p:txBody>
      </p:sp>
      <p:pic>
        <p:nvPicPr>
          <p:cNvPr id="16" name="Picture 15" descr="marketloopa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6565392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MarketLoopAI  ·  Confidential  ·  EAII Second-Round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5  / 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0606"/>
                </a:solidFill>
                <a:latin typeface="Calibri"/>
              </a:rPr>
              <a:t>GO-TO-MARKET  ·  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Design partners first. Agencies as the multiplier.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09728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1207008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0606"/>
                </a:solidFill>
                <a:latin typeface="Calibri"/>
              </a:rPr>
              <a:t>1  Waitlist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155448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Referral codes. Show the full loop on TikTok and LinkedIn — not the model.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109728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02152" y="1207008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0606"/>
                </a:solidFill>
                <a:latin typeface="Calibri"/>
              </a:rPr>
              <a:t>2 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55448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10–20 ecom, SaaS, and agency teams. Paid beta on create + campaigns.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09728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1207008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0606"/>
                </a:solidFill>
                <a:latin typeface="Calibri"/>
              </a:rPr>
              <a:t>3  Product-led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155448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Free → Starter when credits run out. Pro unlocks campaign management.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09728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62872" y="1207008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0606"/>
                </a:solidFill>
                <a:latin typeface="Calibri"/>
              </a:rPr>
              <a:t>4  Agencies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155448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One workspace per client: publish, ads, analytics. Highest LTV.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6148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Not another chatbot. Not a scheduler with AI bolted on. The loop includes campaigns and performance.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3063240"/>
          <a:ext cx="11292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194560"/>
                <a:gridCol w="2194560"/>
                <a:gridCol w="2194560"/>
                <a:gridCol w="2743200"/>
              </a:tblGrid>
              <a:tr h="4441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Jasper / Copy.ai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Runway / Pika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Schedulers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MarketLoopAI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Ranked creative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Publish to social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Yes · 6 networks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Ad campaign management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Yes · 5 ad platforms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Unified analytics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Suggest from winners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AI video in-product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Yes · self-hosted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2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0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728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2936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40606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ASK</a:t>
            </a:r>
          </a:p>
        </p:txBody>
      </p:sp>
      <p:pic>
        <p:nvPicPr>
          <p:cNvPr id="16" name="Picture 15" descr="marketloopa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6565392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MarketLoopAI  ·  Confidential  ·  EAII Second-Round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6  / 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0606"/>
                </a:solidFill>
                <a:latin typeface="Calibri"/>
              </a:rPr>
              <a:t>CORE TEAM AND ADVISORS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Two founders. Complementing skills. Advisors next.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14300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1371600"/>
            <a:ext cx="960120" cy="960120"/>
          </a:xfrm>
          <a:prstGeom prst="ellipse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1572768"/>
            <a:ext cx="960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14173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Fasiledes Shimelis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1810512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Founder  ·  CEO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514600"/>
            <a:ext cx="4983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Owns product, engineering, and company vision. Shipping the MarketLoopAI web product and the self-hosted Wan 2.2 video architecture.
Available ≥ 3 days/week for the full 4–6 month EAII program.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14300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92240" y="1371600"/>
            <a:ext cx="960120" cy="960120"/>
          </a:xfrm>
          <a:prstGeom prst="ellipse">
            <a:avLst/>
          </a:prstGeom>
          <a:solidFill>
            <a:srgbClr val="C7C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572768"/>
            <a:ext cx="960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Calibri"/>
              </a:rPr>
              <a:t>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4173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Hlina Sisay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1810512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40606"/>
                </a:solidFill>
                <a:latin typeface="Calibri"/>
              </a:rPr>
              <a:t>Co-founder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514600"/>
            <a:ext cx="4983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Owns go-to-market, partnerships, and customer conversations. Turns the waitlist into design partners. Owns how campaigns get published, read, and turned into the next brief.
Available ≥ 3 days/week for the full 4–6 month EAII program.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72000"/>
            <a:ext cx="5532120" cy="16002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4709160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40606"/>
                </a:solidFill>
                <a:latin typeface="Calibri"/>
              </a:rPr>
              <a:t>Advisors we will lock in-program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029200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Growth / performance marketing  ·  AI infrastructure (GPU ops and inference cost). Unpaid. Recruited during EAII.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572000"/>
            <a:ext cx="5532120" cy="16002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709160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40606"/>
                </a:solidFill>
                <a:latin typeface="Calibri"/>
              </a:rPr>
              <a:t>First hires after beta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29200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Customer success for design partners  ·  Full-stack engineer for worker reliability. Mentorship bridges until those seats are funded.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2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0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728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6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2936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6459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0606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164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40606"/>
                </a:solidFill>
                <a:latin typeface="Calibri"/>
              </a:rPr>
              <a:t>THE ASK</a:t>
            </a:r>
          </a:p>
        </p:txBody>
      </p:sp>
      <p:pic>
        <p:nvPicPr>
          <p:cNvPr id="16" name="Picture 15" descr="marketloopa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6565392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MarketLoopAI  ·  Confidential  ·  EAII Second-Round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Calibri"/>
              </a:rPr>
              <a:t>7  / 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0606"/>
                </a:solidFill>
                <a:latin typeface="Calibri"/>
              </a:rPr>
              <a:t>FINANCIAL PROJECTION  ·  THE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Conservative ramp. Compute before paid acquisition.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97280"/>
          <a:ext cx="6903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45920"/>
                <a:gridCol w="1645920"/>
                <a:gridCol w="1645920"/>
              </a:tblGrid>
              <a:tr h="4953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2026  (now)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73152" marR="73152" marT="54864" marB="54864">
                    <a:solidFill>
                      <a:srgbClr val="0A0A0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Pre-revenue  ·  beta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Paid launch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Paying accounts (YE)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0–20 design partners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~180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~1,200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Blended ARPU / mo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$55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$62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ARR (YE, projected)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~$120k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~$0.9M</a:t>
                      </a:r>
                    </a:p>
                  </a:txBody>
                  <a:tcPr marL="73152" marR="73152" marT="54864" marB="54864">
                    <a:solidFill>
                      <a:srgbClr val="14141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Gross margin target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n/a until GPU measured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55%+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7C9CC"/>
                          </a:solidFill>
                          <a:latin typeface="Calibri"/>
                        </a:rPr>
                        <a:t>65%+</a:t>
                      </a:r>
                    </a:p>
                  </a:txBody>
                  <a:tcPr marL="73152" marR="73152" marT="54864" marB="54864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160520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73"/>
                </a:solidFill>
                <a:latin typeface="Calibri"/>
              </a:rPr>
              <a:t>Projections, not bookings. Credit prices freeze only after GPU-seconds are measured. We will not buy ads until contribution margin is positive.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097280"/>
            <a:ext cx="4160520" cy="489204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1261872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40606"/>
                </a:solidFill>
                <a:latin typeface="Calibri"/>
              </a:rPr>
              <a:t>THE 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572768"/>
            <a:ext cx="374903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Acceptance into the EAII AI Startup Support Program (4–6 months).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5146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▸  GPU / cloud compute to run Wan 2.2 in production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▸  GTM mentorship to convert waitlist → paid partners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▸  Advisor and customer introductions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7C9CC"/>
                </a:solidFill>
                <a:latin typeface="Calibri"/>
              </a:rPr>
              <a:t>▸  Help hiring the first customer-success seat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480560"/>
            <a:ext cx="37490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C9CC"/>
                </a:solidFill>
                <a:latin typeface="Calibri"/>
              </a:rPr>
              <a:t>Time split  ·  40% product  ·  30% GTM  ·  20% infra  ·  10% ops
Fasiledes + Hlina: ≥ 3 days/week for the full program.
marketloopai.com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1561</Words>
  <Application>Microsoft Office PowerPoint</Application>
  <PresentationFormat>Custom</PresentationFormat>
  <Paragraphs>289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 n</dc:creator>
  <dc:description>generated using python-pptx</dc:description>
  <cp:lastModifiedBy>lalatiru25@gmail.com</cp:lastModifiedBy>
  <cp:revision>3</cp:revision>
  <dcterms:created xsi:type="dcterms:W3CDTF">2013-01-27T09:14:16Z</dcterms:created>
  <dcterms:modified xsi:type="dcterms:W3CDTF">2026-09-03T12:10:08Z</dcterms:modified>
</cp:coreProperties>
</file>